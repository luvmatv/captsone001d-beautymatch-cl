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layfair Display" charset="1" panose="00000000000000000000"/>
      <p:regular r:id="rId15"/>
    </p:embeddedFont>
    <p:embeddedFont>
      <p:font typeface="Inter" charset="1" panose="02000503000000020004"/>
      <p:regular r:id="rId16"/>
    </p:embeddedFont>
    <p:embeddedFont>
      <p:font typeface="Inter Bold" charset="1" panose="02000503000000020004"/>
      <p:regular r:id="rId17"/>
    </p:embeddedFont>
    <p:embeddedFont>
      <p:font typeface="Playfair Display Bold" charset="1" panose="00000000000000000000"/>
      <p:regular r:id="rId18"/>
    </p:embeddedFont>
    <p:embeddedFont>
      <p:font typeface="Inter Medium" charset="1" panose="02000503000000020004"/>
      <p:regular r:id="rId19"/>
    </p:embeddedFont>
    <p:embeddedFont>
      <p:font typeface="Inter Italics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16" Target="../media/image54.png" Type="http://schemas.openxmlformats.org/officeDocument/2006/relationships/image"/><Relationship Id="rId17" Target="../media/image55.png" Type="http://schemas.openxmlformats.org/officeDocument/2006/relationships/image"/><Relationship Id="rId2" Target="../media/image1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2" Target="../media/image1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2" Target="../media/image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6234932"/>
            <a:ext cx="9601200" cy="1114425"/>
            <a:chOff x="0" y="0"/>
            <a:chExt cx="12801600" cy="1485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2801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485900"/>
                  </a:lnTo>
                  <a:lnTo>
                    <a:pt x="0" y="148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41" r="0" b="-6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894562"/>
            <a:ext cx="3310233" cy="414338"/>
            <a:chOff x="0" y="0"/>
            <a:chExt cx="4413644" cy="552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413631" cy="552450"/>
            </a:xfrm>
            <a:custGeom>
              <a:avLst/>
              <a:gdLst/>
              <a:ahLst/>
              <a:cxnLst/>
              <a:rect r="r" b="b" t="t" l="l"/>
              <a:pathLst>
                <a:path h="552450" w="4413631">
                  <a:moveTo>
                    <a:pt x="0" y="0"/>
                  </a:moveTo>
                  <a:lnTo>
                    <a:pt x="4413631" y="0"/>
                  </a:lnTo>
                  <a:lnTo>
                    <a:pt x="4413631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55" r="0" b="-165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66614" y="3651800"/>
            <a:ext cx="6302125" cy="2983400"/>
            <a:chOff x="0" y="0"/>
            <a:chExt cx="20844926" cy="9867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4926" cy="9867900"/>
            </a:xfrm>
            <a:custGeom>
              <a:avLst/>
              <a:gdLst/>
              <a:ahLst/>
              <a:cxnLst/>
              <a:rect r="r" b="b" t="t" l="l"/>
              <a:pathLst>
                <a:path h="9867900" w="20844926">
                  <a:moveTo>
                    <a:pt x="0" y="0"/>
                  </a:moveTo>
                  <a:lnTo>
                    <a:pt x="20844926" y="0"/>
                  </a:lnTo>
                  <a:lnTo>
                    <a:pt x="20844926" y="9867900"/>
                  </a:lnTo>
                  <a:lnTo>
                    <a:pt x="0" y="986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411" r="0" b="-941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6581404"/>
            <a:ext cx="285750" cy="228600"/>
            <a:chOff x="0" y="0"/>
            <a:chExt cx="381000" cy="3048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25" r="0" b="-312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7074322"/>
            <a:ext cx="285750" cy="228600"/>
            <a:chOff x="0" y="0"/>
            <a:chExt cx="3810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25" r="0" b="-312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7250" y="3518449"/>
            <a:ext cx="10081260" cy="84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52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BeautyMatch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" y="4582344"/>
            <a:ext cx="8858250" cy="122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Plataforma web inteligente de comparación de precios y recomendación personalizada de perfumería mediante Inteligencia Artificial.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75" y="6487344"/>
            <a:ext cx="5000625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Ingeniería en Informática · Duoc UC, San Joaquín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875" y="6980263"/>
            <a:ext cx="5729288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Equipo:</a:t>
            </a:r>
            <a:r>
              <a:rPr lang="en-US" sz="168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Matías Hernández · Lukas Rojas · Tomás Vallejos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457575"/>
            <a:ext cx="8072438" cy="2071688"/>
            <a:chOff x="0" y="0"/>
            <a:chExt cx="10763250" cy="27622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6325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2762250"/>
                  </a:lnTo>
                  <a:lnTo>
                    <a:pt x="0" y="276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5757862"/>
            <a:ext cx="8072438" cy="2071688"/>
            <a:chOff x="0" y="0"/>
            <a:chExt cx="10763250" cy="27622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6325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2762250"/>
                  </a:lnTo>
                  <a:lnTo>
                    <a:pt x="0" y="276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58312" y="3814762"/>
            <a:ext cx="2500312" cy="1971675"/>
            <a:chOff x="0" y="0"/>
            <a:chExt cx="3333750" cy="26289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333750" cy="2628900"/>
            </a:xfrm>
            <a:custGeom>
              <a:avLst/>
              <a:gdLst/>
              <a:ahLst/>
              <a:cxnLst/>
              <a:rect r="r" b="b" t="t" l="l"/>
              <a:pathLst>
                <a:path h="2628900" w="3333750">
                  <a:moveTo>
                    <a:pt x="0" y="0"/>
                  </a:moveTo>
                  <a:lnTo>
                    <a:pt x="3333750" y="0"/>
                  </a:lnTo>
                  <a:lnTo>
                    <a:pt x="333375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4375" y="3814762"/>
            <a:ext cx="2500312" cy="1971675"/>
            <a:chOff x="0" y="0"/>
            <a:chExt cx="3333750" cy="2628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333750" cy="2628900"/>
            </a:xfrm>
            <a:custGeom>
              <a:avLst/>
              <a:gdLst/>
              <a:ahLst/>
              <a:cxnLst/>
              <a:rect r="r" b="b" t="t" l="l"/>
              <a:pathLst>
                <a:path h="2628900" w="3333750">
                  <a:moveTo>
                    <a:pt x="0" y="0"/>
                  </a:moveTo>
                  <a:lnTo>
                    <a:pt x="3333750" y="0"/>
                  </a:lnTo>
                  <a:lnTo>
                    <a:pt x="333375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30438" y="3814762"/>
            <a:ext cx="2500312" cy="1971675"/>
            <a:chOff x="0" y="0"/>
            <a:chExt cx="3333750" cy="26289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333750" cy="2628900"/>
            </a:xfrm>
            <a:custGeom>
              <a:avLst/>
              <a:gdLst/>
              <a:ahLst/>
              <a:cxnLst/>
              <a:rect r="r" b="b" t="t" l="l"/>
              <a:pathLst>
                <a:path h="2628900" w="3333750">
                  <a:moveTo>
                    <a:pt x="0" y="0"/>
                  </a:moveTo>
                  <a:lnTo>
                    <a:pt x="3333750" y="0"/>
                  </a:lnTo>
                  <a:lnTo>
                    <a:pt x="333375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7250" y="714375"/>
            <a:ext cx="758666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Definición e Impacto del Proyecto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574364" y="814388"/>
            <a:ext cx="2856386" cy="457200"/>
            <a:chOff x="0" y="0"/>
            <a:chExt cx="3808514" cy="6096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808476" cy="609600"/>
            </a:xfrm>
            <a:custGeom>
              <a:avLst/>
              <a:gdLst/>
              <a:ahLst/>
              <a:cxnLst/>
              <a:rect r="r" b="b" t="t" l="l"/>
              <a:pathLst>
                <a:path h="609600" w="3808476">
                  <a:moveTo>
                    <a:pt x="0" y="0"/>
                  </a:moveTo>
                  <a:lnTo>
                    <a:pt x="3808476" y="0"/>
                  </a:lnTo>
                  <a:lnTo>
                    <a:pt x="3808476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" t="0" r="-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7300" y="4224337"/>
            <a:ext cx="7315200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Alta dispersión de precios de perfumería y cosmética en tiendas e-commerce chilenas. Comparar manualmente genera pérdida de tiempo y seleccionar fragancias sin probarlas es un proceso subjetivo y complejo.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438" y="6524625"/>
            <a:ext cx="7358062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Centraliza la oferta mediante scraping e integración de APIs con comparación en tiempo real. Asistente virtual (sommelier digital) e IA para recomendaciones personalizadas por notas olfativas, presupuesto y ocasión.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29775" y="6486525"/>
            <a:ext cx="514350" cy="514350"/>
            <a:chOff x="0" y="0"/>
            <a:chExt cx="685800" cy="6858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57300" y="3857625"/>
            <a:ext cx="257175" cy="257175"/>
            <a:chOff x="0" y="0"/>
            <a:chExt cx="342900" cy="342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57350" y="3814762"/>
            <a:ext cx="150065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El Problema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4438" y="6157912"/>
            <a:ext cx="285750" cy="257175"/>
            <a:chOff x="0" y="0"/>
            <a:chExt cx="381000" cy="3429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43062" y="6115050"/>
            <a:ext cx="30885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La Solución BeautyMatch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58350" y="4200525"/>
            <a:ext cx="19002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472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6+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58350" y="4800600"/>
            <a:ext cx="190023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Tiendas E-commerce Integradas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44412" y="4200525"/>
            <a:ext cx="19002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472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18-50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44412" y="4800600"/>
            <a:ext cx="190023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Años Rango Usuario Objetivo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230475" y="4200525"/>
            <a:ext cx="19002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472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CLP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30475" y="4800600"/>
            <a:ext cx="190023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Mercado Nacional Chileno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29875" y="6286500"/>
            <a:ext cx="7065883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Propuesta de Valor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29875" y="6605588"/>
            <a:ext cx="6729412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Optimización del presupuesto del consumidor e innovación UX en la compra asistida por Inteligencia Artificial.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7325916"/>
            <a:ext cx="16573500" cy="1035844"/>
            <a:chOff x="0" y="0"/>
            <a:chExt cx="22098000" cy="13811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381125"/>
                  </a:lnTo>
                  <a:lnTo>
                    <a:pt x="0" y="1381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34" r="0" b="-103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925366"/>
            <a:ext cx="8143875" cy="1914525"/>
            <a:chOff x="0" y="0"/>
            <a:chExt cx="10858500" cy="25527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85850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2552700"/>
                  </a:lnTo>
                  <a:lnTo>
                    <a:pt x="0" y="255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3" r="0" b="-37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2925366"/>
            <a:ext cx="8143875" cy="1914525"/>
            <a:chOff x="0" y="0"/>
            <a:chExt cx="10858500" cy="25527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85850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2552700"/>
                  </a:lnTo>
                  <a:lnTo>
                    <a:pt x="0" y="255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3" r="0" b="-37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5125641"/>
            <a:ext cx="8143875" cy="1914525"/>
            <a:chOff x="0" y="0"/>
            <a:chExt cx="10858500" cy="25527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85850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2552700"/>
                  </a:lnTo>
                  <a:lnTo>
                    <a:pt x="0" y="255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3" r="0" b="-37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86875" y="5125641"/>
            <a:ext cx="8143875" cy="1914525"/>
            <a:chOff x="0" y="0"/>
            <a:chExt cx="10858500" cy="25527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85850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2552700"/>
                  </a:lnTo>
                  <a:lnTo>
                    <a:pt x="0" y="255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3" r="0" b="-37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7250" y="714375"/>
            <a:ext cx="9272588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Perfil de Egreso e Intereses Profesionales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107469" y="814388"/>
            <a:ext cx="2323281" cy="457200"/>
            <a:chOff x="0" y="0"/>
            <a:chExt cx="3097708" cy="6096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097657" cy="609600"/>
            </a:xfrm>
            <a:custGeom>
              <a:avLst/>
              <a:gdLst/>
              <a:ahLst/>
              <a:cxnLst/>
              <a:rect r="r" b="b" t="t" l="l"/>
              <a:pathLst>
                <a:path h="609600" w="3097657">
                  <a:moveTo>
                    <a:pt x="0" y="0"/>
                  </a:moveTo>
                  <a:lnTo>
                    <a:pt x="3097657" y="0"/>
                  </a:lnTo>
                  <a:lnTo>
                    <a:pt x="309765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21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4438" y="3835003"/>
            <a:ext cx="74295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Planifica y controla el proyecto ofreciendo alternativas metodológicas y técnicas para la toma de decisiones estratégica.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44062" y="3835003"/>
            <a:ext cx="74295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Diseña e implementa modelos de datos relacionales y no relacionales altamente escalables y eficientes.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4438" y="6035278"/>
            <a:ext cx="74295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Construye, integra e implanta componentes del sistema utilizando arquitecturas modernas Full-Stack.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44062" y="6035278"/>
            <a:ext cx="74295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Diseña y aplica pruebas de validación rigurosas alineadas con las mejores prácticas y estándares de la industria.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4438" y="7672388"/>
            <a:ext cx="342900" cy="342900"/>
            <a:chOff x="0" y="0"/>
            <a:chExt cx="457200" cy="4572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4438" y="3282553"/>
            <a:ext cx="457200" cy="457200"/>
            <a:chOff x="0" y="0"/>
            <a:chExt cx="609600" cy="6096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62" r="0" b="-156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43088" y="3339703"/>
            <a:ext cx="403925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Gestionar Proyectos Informáticos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44062" y="3282553"/>
            <a:ext cx="457200" cy="457200"/>
            <a:chOff x="0" y="0"/>
            <a:chExt cx="609600" cy="6096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62" r="0" b="-156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72712" y="3339703"/>
            <a:ext cx="339534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Construir Modelos de Datos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14438" y="5482828"/>
            <a:ext cx="457200" cy="457200"/>
            <a:chOff x="0" y="0"/>
            <a:chExt cx="609600" cy="6096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843088" y="5539978"/>
            <a:ext cx="427389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Desarrollar Soluciones de Software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44062" y="5482828"/>
            <a:ext cx="457200" cy="457200"/>
            <a:chOff x="0" y="0"/>
            <a:chExt cx="609600" cy="6096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562" r="0" b="-156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272712" y="5539978"/>
            <a:ext cx="40514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Realizar Pruebas de Certificación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57362" y="7568803"/>
            <a:ext cx="15676959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E2B872"/>
                </a:solidFill>
                <a:latin typeface="Inter Bold"/>
                <a:ea typeface="Inter Bold"/>
                <a:cs typeface="Inter Bold"/>
                <a:sym typeface="Inter Bold"/>
              </a:rPr>
              <a:t>CONEXIÓN TÉCNICA PROFESIONAL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57362" y="7802166"/>
            <a:ext cx="14930438" cy="3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Profundización en IA Generativa, desarrollo Full-Stack, arquitecturas Cloud, Business Intelligence y gestión ágil (Scrum) combinando scraping, UX/UI y alto rendimiento.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86112"/>
            <a:ext cx="8072438" cy="4914900"/>
            <a:chOff x="0" y="0"/>
            <a:chExt cx="10763250" cy="6553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63250" cy="6553200"/>
            </a:xfrm>
            <a:custGeom>
              <a:avLst/>
              <a:gdLst/>
              <a:ahLst/>
              <a:cxnLst/>
              <a:rect r="r" b="b" t="t" l="l"/>
              <a:pathLst>
                <a:path h="65532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553200"/>
                  </a:lnTo>
                  <a:lnTo>
                    <a:pt x="0" y="655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58312" y="3186112"/>
            <a:ext cx="8072438" cy="4914900"/>
            <a:chOff x="0" y="0"/>
            <a:chExt cx="10763250" cy="65532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63250" cy="6553200"/>
            </a:xfrm>
            <a:custGeom>
              <a:avLst/>
              <a:gdLst/>
              <a:ahLst/>
              <a:cxnLst/>
              <a:rect r="r" b="b" t="t" l="l"/>
              <a:pathLst>
                <a:path h="65532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553200"/>
                  </a:lnTo>
                  <a:lnTo>
                    <a:pt x="0" y="655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15500" y="4186238"/>
            <a:ext cx="7358062" cy="1071562"/>
            <a:chOff x="0" y="0"/>
            <a:chExt cx="9810750" cy="1428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810750" cy="1428750"/>
            </a:xfrm>
            <a:custGeom>
              <a:avLst/>
              <a:gdLst/>
              <a:ahLst/>
              <a:cxnLst/>
              <a:rect r="r" b="b" t="t" l="l"/>
              <a:pathLst>
                <a:path h="1428750" w="9810750">
                  <a:moveTo>
                    <a:pt x="0" y="0"/>
                  </a:moveTo>
                  <a:lnTo>
                    <a:pt x="9810750" y="0"/>
                  </a:lnTo>
                  <a:lnTo>
                    <a:pt x="9810750" y="1428750"/>
                  </a:lnTo>
                  <a:lnTo>
                    <a:pt x="0" y="142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15500" y="5429250"/>
            <a:ext cx="7358062" cy="1071562"/>
            <a:chOff x="0" y="0"/>
            <a:chExt cx="9810750" cy="14287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9810750" cy="1428750"/>
            </a:xfrm>
            <a:custGeom>
              <a:avLst/>
              <a:gdLst/>
              <a:ahLst/>
              <a:cxnLst/>
              <a:rect r="r" b="b" t="t" l="l"/>
              <a:pathLst>
                <a:path h="1428750" w="9810750">
                  <a:moveTo>
                    <a:pt x="0" y="0"/>
                  </a:moveTo>
                  <a:lnTo>
                    <a:pt x="9810750" y="0"/>
                  </a:lnTo>
                  <a:lnTo>
                    <a:pt x="9810750" y="1428750"/>
                  </a:lnTo>
                  <a:lnTo>
                    <a:pt x="0" y="142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4" t="0" r="-19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15500" y="6672262"/>
            <a:ext cx="7358062" cy="1071562"/>
            <a:chOff x="0" y="0"/>
            <a:chExt cx="9810750" cy="14287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810750" cy="1428750"/>
            </a:xfrm>
            <a:custGeom>
              <a:avLst/>
              <a:gdLst/>
              <a:ahLst/>
              <a:cxnLst/>
              <a:rect r="r" b="b" t="t" l="l"/>
              <a:pathLst>
                <a:path h="1428750" w="9810750">
                  <a:moveTo>
                    <a:pt x="0" y="0"/>
                  </a:moveTo>
                  <a:lnTo>
                    <a:pt x="9810750" y="0"/>
                  </a:lnTo>
                  <a:lnTo>
                    <a:pt x="9810750" y="1428750"/>
                  </a:lnTo>
                  <a:lnTo>
                    <a:pt x="0" y="142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4" t="0" r="-194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7250" y="714375"/>
            <a:ext cx="735806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Factibilidad y Gestión de Riesgos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802964" y="814388"/>
            <a:ext cx="2627786" cy="457200"/>
            <a:chOff x="0" y="0"/>
            <a:chExt cx="3503714" cy="6096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503676" cy="609600"/>
            </a:xfrm>
            <a:custGeom>
              <a:avLst/>
              <a:gdLst/>
              <a:ahLst/>
              <a:cxnLst/>
              <a:rect r="r" b="b" t="t" l="l"/>
              <a:pathLst>
                <a:path h="609600" w="3503676">
                  <a:moveTo>
                    <a:pt x="0" y="0"/>
                  </a:moveTo>
                  <a:lnTo>
                    <a:pt x="3503676" y="0"/>
                  </a:lnTo>
                  <a:lnTo>
                    <a:pt x="3503676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" t="0" r="-22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14438" y="3593306"/>
            <a:ext cx="285750" cy="285750"/>
            <a:chOff x="0" y="0"/>
            <a:chExt cx="381000" cy="3810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500" r="0" b="-250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43062" y="3543300"/>
            <a:ext cx="3345656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Factibilidad del 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4488" y="4138613"/>
            <a:ext cx="695801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Tiempo Acotado:</a:t>
            </a: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18 semanas de desarrollo semestral con entregas incrementales quincenales en Sprints.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4488" y="4938713"/>
            <a:ext cx="6958012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Recursos Eficientes:</a:t>
            </a: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Herramientas open source y capas gratuitas Cloud (AWS/GCP/Vercel), React/Next.js, Node.js/Python y APIs de IA (OpenAI/Gemini).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4488" y="6038850"/>
            <a:ext cx="695801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Facilitadores:</a:t>
            </a: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Documentación disponible, librerías maduras de scraping e IA y frameworks ágiles consolidados.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715500" y="3593306"/>
            <a:ext cx="285750" cy="285750"/>
            <a:chOff x="0" y="0"/>
            <a:chExt cx="381000" cy="3810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500" r="0" b="-250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44125" y="3543300"/>
            <a:ext cx="2880598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Riesgos &amp; Mitigación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9812" y="4357688"/>
            <a:ext cx="69723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E2B872"/>
                </a:solidFill>
                <a:latin typeface="Inter"/>
                <a:ea typeface="Inter"/>
                <a:cs typeface="Inter"/>
                <a:sym typeface="Inter"/>
              </a:rPr>
              <a:t>Bloqueo de Web Scraping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9812" y="4629150"/>
            <a:ext cx="69723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Rotación continua de User-Agents/proxies y navegación simulada con Playwright.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9812" y="5600700"/>
            <a:ext cx="69723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E2B872"/>
                </a:solidFill>
                <a:latin typeface="Inter"/>
                <a:ea typeface="Inter"/>
                <a:cs typeface="Inter"/>
                <a:sym typeface="Inter"/>
              </a:rPr>
              <a:t>Costos Elevados de API de 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9812" y="5872162"/>
            <a:ext cx="69723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 modelos optimizados, caché de respuestas frecuentes y prompts estructurados.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9812" y="6843712"/>
            <a:ext cx="69723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Acotación de Alcance Perfumería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9812" y="7115175"/>
            <a:ext cx="69723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Atributos estructurados (marca, concentración, volumen) que facilitan la validación semestral.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14438" y="4221956"/>
            <a:ext cx="200025" cy="214312"/>
            <a:chOff x="0" y="0"/>
            <a:chExt cx="266700" cy="2857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2667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0000" r="0" b="-2000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14438" y="5022056"/>
            <a:ext cx="257175" cy="214312"/>
            <a:chOff x="0" y="0"/>
            <a:chExt cx="342900" cy="2857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342900" cy="285750"/>
            </a:xfrm>
            <a:custGeom>
              <a:avLst/>
              <a:gdLst/>
              <a:ahLst/>
              <a:cxnLst/>
              <a:rect r="r" b="b" t="t" l="l"/>
              <a:pathLst>
                <a:path h="2857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0000" r="0" b="-2000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14438" y="6122194"/>
            <a:ext cx="171450" cy="214312"/>
            <a:chOff x="0" y="0"/>
            <a:chExt cx="228600" cy="2857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0000" r="0" b="-2000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332434"/>
            <a:ext cx="16573500" cy="1764506"/>
            <a:chOff x="0" y="0"/>
            <a:chExt cx="22098000" cy="235267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2352675"/>
            </a:xfrm>
            <a:custGeom>
              <a:avLst/>
              <a:gdLst/>
              <a:ahLst/>
              <a:cxnLst/>
              <a:rect r="r" b="b" t="t" l="l"/>
              <a:pathLst>
                <a:path h="2352675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352675"/>
                  </a:lnTo>
                  <a:lnTo>
                    <a:pt x="0" y="2352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2" r="0" b="-20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382691"/>
            <a:ext cx="5333924" cy="2143125"/>
            <a:chOff x="0" y="0"/>
            <a:chExt cx="7111898" cy="2857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11873" cy="2857500"/>
            </a:xfrm>
            <a:custGeom>
              <a:avLst/>
              <a:gdLst/>
              <a:ahLst/>
              <a:cxnLst/>
              <a:rect r="r" b="b" t="t" l="l"/>
              <a:pathLst>
                <a:path h="285750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3" r="0" b="-24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76924" y="4382691"/>
            <a:ext cx="5333924" cy="2143125"/>
            <a:chOff x="0" y="0"/>
            <a:chExt cx="7111898" cy="28575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11873" cy="2857500"/>
            </a:xfrm>
            <a:custGeom>
              <a:avLst/>
              <a:gdLst/>
              <a:ahLst/>
              <a:cxnLst/>
              <a:rect r="r" b="b" t="t" l="l"/>
              <a:pathLst>
                <a:path h="285750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3" r="0" b="-24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96598" y="4382691"/>
            <a:ext cx="5334152" cy="2143125"/>
            <a:chOff x="0" y="0"/>
            <a:chExt cx="7112203" cy="28575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12254" cy="2857500"/>
            </a:xfrm>
            <a:custGeom>
              <a:avLst/>
              <a:gdLst/>
              <a:ahLst/>
              <a:cxnLst/>
              <a:rect r="r" b="b" t="t" l="l"/>
              <a:pathLst>
                <a:path h="2857500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44" r="0" b="-24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6811566"/>
            <a:ext cx="5333924" cy="2143125"/>
            <a:chOff x="0" y="0"/>
            <a:chExt cx="7111898" cy="28575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11873" cy="2857500"/>
            </a:xfrm>
            <a:custGeom>
              <a:avLst/>
              <a:gdLst/>
              <a:ahLst/>
              <a:cxnLst/>
              <a:rect r="r" b="b" t="t" l="l"/>
              <a:pathLst>
                <a:path h="285750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3" r="0" b="-24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76924" y="6811566"/>
            <a:ext cx="5333924" cy="2143125"/>
            <a:chOff x="0" y="0"/>
            <a:chExt cx="7111898" cy="28575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111873" cy="2857500"/>
            </a:xfrm>
            <a:custGeom>
              <a:avLst/>
              <a:gdLst/>
              <a:ahLst/>
              <a:cxnLst/>
              <a:rect r="r" b="b" t="t" l="l"/>
              <a:pathLst>
                <a:path h="285750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3" r="0" b="-24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096598" y="6811566"/>
            <a:ext cx="5334152" cy="2143125"/>
            <a:chOff x="0" y="0"/>
            <a:chExt cx="7112203" cy="28575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112254" cy="2857500"/>
            </a:xfrm>
            <a:custGeom>
              <a:avLst/>
              <a:gdLst/>
              <a:ahLst/>
              <a:cxnLst/>
              <a:rect r="r" b="b" t="t" l="l"/>
              <a:pathLst>
                <a:path h="2857500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44" r="0" b="-24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714375"/>
            <a:ext cx="501491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Objetivos del Proyecto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455378" y="814388"/>
            <a:ext cx="2975372" cy="457200"/>
            <a:chOff x="0" y="0"/>
            <a:chExt cx="3967162" cy="6096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967099" cy="609600"/>
            </a:xfrm>
            <a:custGeom>
              <a:avLst/>
              <a:gdLst/>
              <a:ahLst/>
              <a:cxnLst/>
              <a:rect r="r" b="b" t="t" l="l"/>
              <a:pathLst>
                <a:path h="609600" w="3967099">
                  <a:moveTo>
                    <a:pt x="0" y="0"/>
                  </a:moveTo>
                  <a:lnTo>
                    <a:pt x="3967099" y="0"/>
                  </a:lnTo>
                  <a:lnTo>
                    <a:pt x="396709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0" t="0" r="-18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57288" y="2632472"/>
            <a:ext cx="1828800" cy="350044"/>
            <a:chOff x="0" y="0"/>
            <a:chExt cx="2438400" cy="466725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438400" cy="466725"/>
            </a:xfrm>
            <a:custGeom>
              <a:avLst/>
              <a:gdLst/>
              <a:ahLst/>
              <a:cxnLst/>
              <a:rect r="r" b="b" t="t" l="l"/>
              <a:pathLst>
                <a:path h="46672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66725"/>
                  </a:lnTo>
                  <a:lnTo>
                    <a:pt x="0" y="466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20" r="0" b="-102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57288" y="3106341"/>
            <a:ext cx="15973425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Diseñar e implementar </a:t>
            </a:r>
            <a:r>
              <a:rPr lang="en-US" sz="16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BeautyMatch</a:t>
            </a:r>
            <a:r>
              <a:rPr lang="en-US" sz="168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, integrando comparación de precios en tiempo real y un módulo de IA para asistencia y recomendación personalizada de perfumería, garantizando calidad, seguridad y rendimiento en todo el ciclo de vida del desarrollo.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438" y="4739878"/>
            <a:ext cx="461954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438" y="5225653"/>
            <a:ext cx="485053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Requerimientos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4438" y="5573316"/>
            <a:ext cx="4619549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Levantar y especificar requerimientos funcionales y no funcionales del sistema.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34111" y="4739878"/>
            <a:ext cx="461954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34111" y="5225653"/>
            <a:ext cx="485053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Arquitectura &amp; UX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34111" y="5573316"/>
            <a:ext cx="4619549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Diseñar arquitectura de software, modelos de datos y la interfaz gráfica UX/UI.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53785" y="4739878"/>
            <a:ext cx="46197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53785" y="5225653"/>
            <a:ext cx="4850759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Motor Extracción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3785" y="5573316"/>
            <a:ext cx="4619777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Desarrollar el motor de extracción y procesamiento de datos (scraping y APIs).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4438" y="7168753"/>
            <a:ext cx="461954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4438" y="7654528"/>
            <a:ext cx="485053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Módulo de 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4438" y="8002191"/>
            <a:ext cx="4619549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Integrar modelo de IA para el chatbot (sommelier) y motor de recomendación.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34111" y="7168753"/>
            <a:ext cx="461954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34111" y="7654528"/>
            <a:ext cx="485053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Pruebas de QA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34111" y="8002191"/>
            <a:ext cx="4619549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Ejecutar pruebas unitarias, integración, rendimiento y validación de seguridad.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53785" y="7168753"/>
            <a:ext cx="46197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E2B87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53785" y="7654528"/>
            <a:ext cx="4850759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Gestión Scrum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53785" y="8002191"/>
            <a:ext cx="4619777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Gestionar el desarrollo con Scrum, controlando avances, riesgos y entregables.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907756"/>
            <a:ext cx="3154632" cy="2400300"/>
            <a:chOff x="0" y="0"/>
            <a:chExt cx="4206176" cy="3200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206240" cy="3200400"/>
            </a:xfrm>
            <a:custGeom>
              <a:avLst/>
              <a:gdLst/>
              <a:ahLst/>
              <a:cxnLst/>
              <a:rect r="r" b="b" t="t" l="l"/>
              <a:pathLst>
                <a:path h="3200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" r="1" b="-25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11907" y="4907756"/>
            <a:ext cx="3154632" cy="2400300"/>
            <a:chOff x="0" y="0"/>
            <a:chExt cx="4206176" cy="3200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206240" cy="3200400"/>
            </a:xfrm>
            <a:custGeom>
              <a:avLst/>
              <a:gdLst/>
              <a:ahLst/>
              <a:cxnLst/>
              <a:rect r="r" b="b" t="t" l="l"/>
              <a:pathLst>
                <a:path h="3200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" r="1" b="-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66574" y="4907756"/>
            <a:ext cx="3154632" cy="2400300"/>
            <a:chOff x="0" y="0"/>
            <a:chExt cx="4206176" cy="3200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206240" cy="3200400"/>
            </a:xfrm>
            <a:custGeom>
              <a:avLst/>
              <a:gdLst/>
              <a:ahLst/>
              <a:cxnLst/>
              <a:rect r="r" b="b" t="t" l="l"/>
              <a:pathLst>
                <a:path h="3200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" r="1" b="-2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21232" y="4907756"/>
            <a:ext cx="3154632" cy="2400300"/>
            <a:chOff x="0" y="0"/>
            <a:chExt cx="4206176" cy="3200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206240" cy="3200400"/>
            </a:xfrm>
            <a:custGeom>
              <a:avLst/>
              <a:gdLst/>
              <a:ahLst/>
              <a:cxnLst/>
              <a:rect r="r" b="b" t="t" l="l"/>
              <a:pathLst>
                <a:path h="3200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" r="1" b="-2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889" y="4907756"/>
            <a:ext cx="3154861" cy="2400300"/>
            <a:chOff x="0" y="0"/>
            <a:chExt cx="4206481" cy="3200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206494" cy="3200400"/>
            </a:xfrm>
            <a:custGeom>
              <a:avLst/>
              <a:gdLst/>
              <a:ahLst/>
              <a:cxnLst/>
              <a:rect r="r" b="b" t="t" l="l"/>
              <a:pathLst>
                <a:path h="3200400" w="4206494">
                  <a:moveTo>
                    <a:pt x="0" y="0"/>
                  </a:moveTo>
                  <a:lnTo>
                    <a:pt x="4206494" y="0"/>
                  </a:lnTo>
                  <a:lnTo>
                    <a:pt x="420649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4" r="0" b="-25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7250" y="714375"/>
            <a:ext cx="701516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Metodología de Trabajo y Roles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156580" y="814388"/>
            <a:ext cx="2274170" cy="457200"/>
            <a:chOff x="0" y="0"/>
            <a:chExt cx="3032227" cy="6096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032252" cy="609600"/>
            </a:xfrm>
            <a:custGeom>
              <a:avLst/>
              <a:gdLst/>
              <a:ahLst/>
              <a:cxnLst/>
              <a:rect r="r" b="b" t="t" l="l"/>
              <a:pathLst>
                <a:path h="609600" w="3032252">
                  <a:moveTo>
                    <a:pt x="0" y="0"/>
                  </a:moveTo>
                  <a:lnTo>
                    <a:pt x="3032252" y="0"/>
                  </a:lnTo>
                  <a:lnTo>
                    <a:pt x="303225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60" t="0" r="-25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3931444"/>
            <a:ext cx="16573500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E2B872"/>
                </a:solidFill>
                <a:latin typeface="Inter Bold"/>
                <a:ea typeface="Inter Bold"/>
                <a:cs typeface="Inter Bold"/>
                <a:sym typeface="Inter Bold"/>
              </a:rPr>
              <a:t>Ciclos de Desarrollo:</a:t>
            </a:r>
            <a:r>
              <a:rPr lang="en-US" sz="168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Sprints de 2 semanas con planificación, desarrollo, pruebas y retrospectiva. Integrantes (3) cubren roles de forma compartida y equitativa durante las 18 semanas.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134419" y="5150644"/>
            <a:ext cx="600075" cy="600075"/>
            <a:chOff x="0" y="0"/>
            <a:chExt cx="800100" cy="8001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33415" y="5922169"/>
            <a:ext cx="280230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Scrum Master / PM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0138" y="6255544"/>
            <a:ext cx="266885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Planificación de sprints, seguimiento Gantt y gestión de riesgos.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489077" y="5150644"/>
            <a:ext cx="600075" cy="600075"/>
            <a:chOff x="0" y="0"/>
            <a:chExt cx="800100" cy="8001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388072" y="5922169"/>
            <a:ext cx="280230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Req. &amp; UX/UI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54795" y="6255544"/>
            <a:ext cx="266885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Historias de usuario, prototipado de pantallas y pruebas usabilidad.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43743" y="5150644"/>
            <a:ext cx="600075" cy="600075"/>
            <a:chOff x="0" y="0"/>
            <a:chExt cx="800100" cy="8001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742739" y="5922169"/>
            <a:ext cx="280230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Backend &amp; Data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09462" y="6255544"/>
            <a:ext cx="266885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APIs, motor de scraping, BD SQL/NoSQL e integración IA.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98401" y="5150644"/>
            <a:ext cx="600075" cy="600075"/>
            <a:chOff x="0" y="0"/>
            <a:chExt cx="800100" cy="8001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097397" y="5922169"/>
            <a:ext cx="280230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Frontend Web/Móvil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64119" y="6255544"/>
            <a:ext cx="266885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Interfaz responsive, integración backend y optimización.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553287" y="5150644"/>
            <a:ext cx="600075" cy="600075"/>
            <a:chOff x="0" y="0"/>
            <a:chExt cx="800100" cy="8001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452054" y="5922169"/>
            <a:ext cx="280254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QA Engineer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18777" y="6255544"/>
            <a:ext cx="266908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Diseño de pruebas, automatización y seguridad.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270150" y="5322094"/>
            <a:ext cx="328612" cy="257175"/>
            <a:chOff x="0" y="0"/>
            <a:chExt cx="438150" cy="3429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77" r="0" b="-57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660527" y="5322094"/>
            <a:ext cx="257175" cy="257175"/>
            <a:chOff x="0" y="0"/>
            <a:chExt cx="342900" cy="3429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029481" y="5322094"/>
            <a:ext cx="228600" cy="257175"/>
            <a:chOff x="0" y="0"/>
            <a:chExt cx="304800" cy="3429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329" t="0" r="-329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98426" y="5322094"/>
            <a:ext cx="200025" cy="257175"/>
            <a:chOff x="0" y="0"/>
            <a:chExt cx="266700" cy="3429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266700" cy="342900"/>
            </a:xfrm>
            <a:custGeom>
              <a:avLst/>
              <a:gdLst/>
              <a:ahLst/>
              <a:cxnLst/>
              <a:rect r="r" b="b" t="t" l="l"/>
              <a:pathLst>
                <a:path h="3429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752" t="0" r="-752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724737" y="5322094"/>
            <a:ext cx="257175" cy="257175"/>
            <a:chOff x="0" y="0"/>
            <a:chExt cx="342900" cy="3429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518172"/>
            <a:ext cx="16573500" cy="5822156"/>
            <a:chOff x="0" y="0"/>
            <a:chExt cx="22098000" cy="776287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7762875"/>
            </a:xfrm>
            <a:custGeom>
              <a:avLst/>
              <a:gdLst/>
              <a:ahLst/>
              <a:cxnLst/>
              <a:rect r="r" b="b" t="t" l="l"/>
              <a:pathLst>
                <a:path h="7762875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762875"/>
                  </a:lnTo>
                  <a:lnTo>
                    <a:pt x="0" y="7762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1" r="0" b="-6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14938" y="3582591"/>
            <a:ext cx="11858625" cy="542925"/>
            <a:chOff x="0" y="0"/>
            <a:chExt cx="15811500" cy="723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5811500" cy="723900"/>
            </a:xfrm>
            <a:custGeom>
              <a:avLst/>
              <a:gdLst/>
              <a:ahLst/>
              <a:cxnLst/>
              <a:rect r="r" b="b" t="t" l="l"/>
              <a:pathLst>
                <a:path h="723900" w="15811500">
                  <a:moveTo>
                    <a:pt x="0" y="0"/>
                  </a:moveTo>
                  <a:lnTo>
                    <a:pt x="15811500" y="0"/>
                  </a:lnTo>
                  <a:lnTo>
                    <a:pt x="158115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92" r="0" b="-119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14938" y="4354116"/>
            <a:ext cx="11858625" cy="542925"/>
            <a:chOff x="0" y="0"/>
            <a:chExt cx="15811500" cy="7239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5811500" cy="723900"/>
            </a:xfrm>
            <a:custGeom>
              <a:avLst/>
              <a:gdLst/>
              <a:ahLst/>
              <a:cxnLst/>
              <a:rect r="r" b="b" t="t" l="l"/>
              <a:pathLst>
                <a:path h="723900" w="15811500">
                  <a:moveTo>
                    <a:pt x="0" y="0"/>
                  </a:moveTo>
                  <a:lnTo>
                    <a:pt x="15811500" y="0"/>
                  </a:lnTo>
                  <a:lnTo>
                    <a:pt x="158115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2" r="0" b="-119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14938" y="5125641"/>
            <a:ext cx="11858625" cy="542925"/>
            <a:chOff x="0" y="0"/>
            <a:chExt cx="15811500" cy="723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5811500" cy="723900"/>
            </a:xfrm>
            <a:custGeom>
              <a:avLst/>
              <a:gdLst/>
              <a:ahLst/>
              <a:cxnLst/>
              <a:rect r="r" b="b" t="t" l="l"/>
              <a:pathLst>
                <a:path h="723900" w="15811500">
                  <a:moveTo>
                    <a:pt x="0" y="0"/>
                  </a:moveTo>
                  <a:lnTo>
                    <a:pt x="15811500" y="0"/>
                  </a:lnTo>
                  <a:lnTo>
                    <a:pt x="158115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2" r="0" b="-119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14938" y="5897166"/>
            <a:ext cx="11858625" cy="542925"/>
            <a:chOff x="0" y="0"/>
            <a:chExt cx="15811500" cy="7239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5811500" cy="723900"/>
            </a:xfrm>
            <a:custGeom>
              <a:avLst/>
              <a:gdLst/>
              <a:ahLst/>
              <a:cxnLst/>
              <a:rect r="r" b="b" t="t" l="l"/>
              <a:pathLst>
                <a:path h="723900" w="15811500">
                  <a:moveTo>
                    <a:pt x="0" y="0"/>
                  </a:moveTo>
                  <a:lnTo>
                    <a:pt x="15811500" y="0"/>
                  </a:lnTo>
                  <a:lnTo>
                    <a:pt x="158115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2" r="0" b="-119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14938" y="6668691"/>
            <a:ext cx="11858625" cy="542925"/>
            <a:chOff x="0" y="0"/>
            <a:chExt cx="15811500" cy="7239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5811500" cy="723900"/>
            </a:xfrm>
            <a:custGeom>
              <a:avLst/>
              <a:gdLst/>
              <a:ahLst/>
              <a:cxnLst/>
              <a:rect r="r" b="b" t="t" l="l"/>
              <a:pathLst>
                <a:path h="723900" w="15811500">
                  <a:moveTo>
                    <a:pt x="0" y="0"/>
                  </a:moveTo>
                  <a:lnTo>
                    <a:pt x="15811500" y="0"/>
                  </a:lnTo>
                  <a:lnTo>
                    <a:pt x="158115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2" r="0" b="-119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214938" y="7440216"/>
            <a:ext cx="11858625" cy="542925"/>
            <a:chOff x="0" y="0"/>
            <a:chExt cx="158115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5811500" cy="723900"/>
            </a:xfrm>
            <a:custGeom>
              <a:avLst/>
              <a:gdLst/>
              <a:ahLst/>
              <a:cxnLst/>
              <a:rect r="r" b="b" t="t" l="l"/>
              <a:pathLst>
                <a:path h="723900" w="15811500">
                  <a:moveTo>
                    <a:pt x="0" y="0"/>
                  </a:moveTo>
                  <a:lnTo>
                    <a:pt x="15811500" y="0"/>
                  </a:lnTo>
                  <a:lnTo>
                    <a:pt x="158115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2" r="0" b="-119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714375"/>
            <a:ext cx="825817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Plan de Trabajo e Hitos (Carta Gantt)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647364" y="814388"/>
            <a:ext cx="2783386" cy="457200"/>
            <a:chOff x="0" y="0"/>
            <a:chExt cx="3711181" cy="6096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711194" cy="609600"/>
            </a:xfrm>
            <a:custGeom>
              <a:avLst/>
              <a:gdLst/>
              <a:ahLst/>
              <a:cxnLst/>
              <a:rect r="r" b="b" t="t" l="l"/>
              <a:pathLst>
                <a:path h="609600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7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57250" y="8473678"/>
            <a:ext cx="165735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i="true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* Cada fase entrega un avance verificable (documentación, MVP funcional o módulo integrado) antes de avanzar.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438" y="2907506"/>
            <a:ext cx="4000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E2B872"/>
                </a:solidFill>
                <a:latin typeface="Inter Bold"/>
                <a:ea typeface="Inter Bold"/>
                <a:cs typeface="Inter Bold"/>
                <a:sym typeface="Inter Bold"/>
              </a:rPr>
              <a:t>FASES / HITOS DEL PROYECTO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14938" y="2875359"/>
            <a:ext cx="11858625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S4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S5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S6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S7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S8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S9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S10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S11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S12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S13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S14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S15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S16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S17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S18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438" y="3604022"/>
            <a:ext cx="37861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1. Iniciación y Requisitos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438" y="3889772"/>
            <a:ext cx="3786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Levantamiento, HU y viabilidad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29225" y="3668316"/>
            <a:ext cx="1970780" cy="371475"/>
            <a:chOff x="0" y="0"/>
            <a:chExt cx="2627706" cy="4953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627757" cy="495300"/>
            </a:xfrm>
            <a:custGeom>
              <a:avLst/>
              <a:gdLst/>
              <a:ahLst/>
              <a:cxnLst/>
              <a:rect r="r" b="b" t="t" l="l"/>
              <a:pathLst>
                <a:path h="495300" w="2627757">
                  <a:moveTo>
                    <a:pt x="0" y="0"/>
                  </a:moveTo>
                  <a:lnTo>
                    <a:pt x="2627757" y="0"/>
                  </a:lnTo>
                  <a:lnTo>
                    <a:pt x="2627757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25" r="1" b="-152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14438" y="4375547"/>
            <a:ext cx="37861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2. Arquitectura, UX/UI y Datos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4438" y="4661297"/>
            <a:ext cx="3786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UML, modelo BD y Figma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200005" y="4439841"/>
            <a:ext cx="2628452" cy="371475"/>
            <a:chOff x="0" y="0"/>
            <a:chExt cx="3504603" cy="4953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504565" cy="495300"/>
            </a:xfrm>
            <a:custGeom>
              <a:avLst/>
              <a:gdLst/>
              <a:ahLst/>
              <a:cxnLst/>
              <a:rect r="r" b="b" t="t" l="l"/>
              <a:pathLst>
                <a:path h="495300" w="3504565">
                  <a:moveTo>
                    <a:pt x="0" y="0"/>
                  </a:moveTo>
                  <a:lnTo>
                    <a:pt x="3504565" y="0"/>
                  </a:lnTo>
                  <a:lnTo>
                    <a:pt x="3504565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56" r="-1" b="-1356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14438" y="5147072"/>
            <a:ext cx="37861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3. Motor Scraping y Backend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4438" y="5432822"/>
            <a:ext cx="3786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Extracción e-commerce &amp; APIs REST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28686" y="5211366"/>
            <a:ext cx="1970780" cy="371475"/>
            <a:chOff x="0" y="0"/>
            <a:chExt cx="2627706" cy="4953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2627757" cy="495300"/>
            </a:xfrm>
            <a:custGeom>
              <a:avLst/>
              <a:gdLst/>
              <a:ahLst/>
              <a:cxnLst/>
              <a:rect r="r" b="b" t="t" l="l"/>
              <a:pathLst>
                <a:path h="495300" w="2627757">
                  <a:moveTo>
                    <a:pt x="0" y="0"/>
                  </a:moveTo>
                  <a:lnTo>
                    <a:pt x="2627757" y="0"/>
                  </a:lnTo>
                  <a:lnTo>
                    <a:pt x="2627757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58" r="1" b="-1156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14438" y="5918597"/>
            <a:ext cx="37861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4. Integración de IA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4438" y="6204347"/>
            <a:ext cx="3786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Sommelier digital y recomendación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800808" y="5982891"/>
            <a:ext cx="1314231" cy="371475"/>
            <a:chOff x="0" y="0"/>
            <a:chExt cx="1752308" cy="4953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1752346" cy="495300"/>
            </a:xfrm>
            <a:custGeom>
              <a:avLst/>
              <a:gdLst/>
              <a:ahLst/>
              <a:cxnLst/>
              <a:rect r="r" b="b" t="t" l="l"/>
              <a:pathLst>
                <a:path h="495300" w="1752346">
                  <a:moveTo>
                    <a:pt x="0" y="0"/>
                  </a:moveTo>
                  <a:lnTo>
                    <a:pt x="1752346" y="0"/>
                  </a:lnTo>
                  <a:lnTo>
                    <a:pt x="1752346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356" r="2" b="-1356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14438" y="6690122"/>
            <a:ext cx="37861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5. Frontend Web / Móvil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4438" y="6975872"/>
            <a:ext cx="3786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UI responsive e integración completa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115030" y="6754416"/>
            <a:ext cx="1970780" cy="371475"/>
            <a:chOff x="0" y="0"/>
            <a:chExt cx="2627706" cy="4953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2627757" cy="495300"/>
            </a:xfrm>
            <a:custGeom>
              <a:avLst/>
              <a:gdLst/>
              <a:ahLst/>
              <a:cxnLst/>
              <a:rect r="r" b="b" t="t" l="l"/>
              <a:pathLst>
                <a:path h="495300" w="2627757">
                  <a:moveTo>
                    <a:pt x="0" y="0"/>
                  </a:moveTo>
                  <a:lnTo>
                    <a:pt x="2627757" y="0"/>
                  </a:lnTo>
                  <a:lnTo>
                    <a:pt x="2627757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158" r="1" b="-1156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14438" y="7461647"/>
            <a:ext cx="37861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6. QA, Despliegue e Informe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4438" y="7747397"/>
            <a:ext cx="3786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Pruebas Cloud y cierre final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087152" y="7525941"/>
            <a:ext cx="1970780" cy="371475"/>
            <a:chOff x="0" y="0"/>
            <a:chExt cx="2627706" cy="4953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2627757" cy="495300"/>
            </a:xfrm>
            <a:custGeom>
              <a:avLst/>
              <a:gdLst/>
              <a:ahLst/>
              <a:cxnLst/>
              <a:rect r="r" b="b" t="t" l="l"/>
              <a:pathLst>
                <a:path h="495300" w="2627757">
                  <a:moveTo>
                    <a:pt x="0" y="0"/>
                  </a:moveTo>
                  <a:lnTo>
                    <a:pt x="2627757" y="0"/>
                  </a:lnTo>
                  <a:lnTo>
                    <a:pt x="2627757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525" r="1" b="-1525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5386388" y="3645694"/>
            <a:ext cx="728662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b="true" sz="1687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S1 - S3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928542" y="3775472"/>
            <a:ext cx="114300" cy="157162"/>
            <a:chOff x="0" y="0"/>
            <a:chExt cx="152400" cy="20955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152400" cy="209550"/>
            </a:xfrm>
            <a:custGeom>
              <a:avLst/>
              <a:gdLst/>
              <a:ahLst/>
              <a:cxnLst/>
              <a:rect r="r" b="b" t="t" l="l"/>
              <a:pathLst>
                <a:path h="2095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558" t="0" r="-1566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7357167" y="4417219"/>
            <a:ext cx="771525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b="true" sz="1687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S4 - S7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514132" y="4546997"/>
            <a:ext cx="157162" cy="157162"/>
            <a:chOff x="0" y="0"/>
            <a:chExt cx="209550" cy="209550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985848" y="5188744"/>
            <a:ext cx="871538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b="true" sz="1687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S8 - S10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485140" y="5318522"/>
            <a:ext cx="157162" cy="157162"/>
            <a:chOff x="0" y="0"/>
            <a:chExt cx="209550" cy="20955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1957961" y="6018330"/>
            <a:ext cx="799881" cy="2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487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S11 - S12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757842" y="6090047"/>
            <a:ext cx="200025" cy="157162"/>
            <a:chOff x="0" y="0"/>
            <a:chExt cx="266700" cy="20955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266700" cy="209550"/>
            </a:xfrm>
            <a:custGeom>
              <a:avLst/>
              <a:gdLst/>
              <a:ahLst/>
              <a:cxnLst/>
              <a:rect r="r" b="b" t="t" l="l"/>
              <a:pathLst>
                <a:path h="2095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909" r="0" b="-909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3272192" y="6731794"/>
            <a:ext cx="942975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b="true" sz="1687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S13 - S15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4728622" y="6861572"/>
            <a:ext cx="200025" cy="157162"/>
            <a:chOff x="0" y="0"/>
            <a:chExt cx="266700" cy="209550"/>
          </a:xfrm>
        </p:grpSpPr>
        <p:sp>
          <p:nvSpPr>
            <p:cNvPr name="Freeform 62" id="62" descr="image.png"/>
            <p:cNvSpPr/>
            <p:nvPr/>
          </p:nvSpPr>
          <p:spPr>
            <a:xfrm flipH="false" flipV="false" rot="0">
              <a:off x="0" y="0"/>
              <a:ext cx="266700" cy="209550"/>
            </a:xfrm>
            <a:custGeom>
              <a:avLst/>
              <a:gdLst/>
              <a:ahLst/>
              <a:cxnLst/>
              <a:rect r="r" b="b" t="t" l="l"/>
              <a:pathLst>
                <a:path h="2095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909" r="0" b="-909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5244315" y="7503319"/>
            <a:ext cx="957262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b="true" sz="1687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S16 - S18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6700744" y="7633097"/>
            <a:ext cx="200025" cy="157162"/>
            <a:chOff x="0" y="0"/>
            <a:chExt cx="266700" cy="209550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266700" cy="209550"/>
            </a:xfrm>
            <a:custGeom>
              <a:avLst/>
              <a:gdLst/>
              <a:ahLst/>
              <a:cxnLst/>
              <a:rect r="r" b="b" t="t" l="l"/>
              <a:pathLst>
                <a:path h="2095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909" r="0" b="-90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368278"/>
            <a:ext cx="5333924" cy="4550569"/>
            <a:chOff x="0" y="0"/>
            <a:chExt cx="7111898" cy="60674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11873" cy="6067425"/>
            </a:xfrm>
            <a:custGeom>
              <a:avLst/>
              <a:gdLst/>
              <a:ahLst/>
              <a:cxnLst/>
              <a:rect r="r" b="b" t="t" l="l"/>
              <a:pathLst>
                <a:path h="6067425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6067425"/>
                  </a:lnTo>
                  <a:lnTo>
                    <a:pt x="0" y="606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5" r="0" b="-14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76924" y="3368278"/>
            <a:ext cx="5333924" cy="4550569"/>
            <a:chOff x="0" y="0"/>
            <a:chExt cx="7111898" cy="606742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11873" cy="6067425"/>
            </a:xfrm>
            <a:custGeom>
              <a:avLst/>
              <a:gdLst/>
              <a:ahLst/>
              <a:cxnLst/>
              <a:rect r="r" b="b" t="t" l="l"/>
              <a:pathLst>
                <a:path h="6067425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6067425"/>
                  </a:lnTo>
                  <a:lnTo>
                    <a:pt x="0" y="606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5" r="0" b="-1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6598" y="3368278"/>
            <a:ext cx="5334152" cy="4550569"/>
            <a:chOff x="0" y="0"/>
            <a:chExt cx="7112203" cy="606742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12254" cy="6067425"/>
            </a:xfrm>
            <a:custGeom>
              <a:avLst/>
              <a:gdLst/>
              <a:ahLst/>
              <a:cxnLst/>
              <a:rect r="r" b="b" t="t" l="l"/>
              <a:pathLst>
                <a:path h="6067425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6067425"/>
                  </a:lnTo>
                  <a:lnTo>
                    <a:pt x="0" y="606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7" r="0" b="-14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714375"/>
            <a:ext cx="7329488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Evidencias del Proyecto por Fase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007998" y="814388"/>
            <a:ext cx="3422752" cy="457200"/>
            <a:chOff x="0" y="0"/>
            <a:chExt cx="4563669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4563618" cy="609600"/>
            </a:xfrm>
            <a:custGeom>
              <a:avLst/>
              <a:gdLst/>
              <a:ahLst/>
              <a:cxnLst/>
              <a:rect r="r" b="b" t="t" l="l"/>
              <a:pathLst>
                <a:path h="609600" w="4563618">
                  <a:moveTo>
                    <a:pt x="0" y="0"/>
                  </a:moveTo>
                  <a:lnTo>
                    <a:pt x="4563618" y="0"/>
                  </a:lnTo>
                  <a:lnTo>
                    <a:pt x="456361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1" t="0" r="-9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4438" y="3768328"/>
            <a:ext cx="1571625" cy="350044"/>
            <a:chOff x="0" y="0"/>
            <a:chExt cx="2095500" cy="466725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2095500" cy="466725"/>
            </a:xfrm>
            <a:custGeom>
              <a:avLst/>
              <a:gdLst/>
              <a:ahLst/>
              <a:cxnLst/>
              <a:rect r="r" b="b" t="t" l="l"/>
              <a:pathLst>
                <a:path h="466725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466725"/>
                  </a:lnTo>
                  <a:lnTo>
                    <a:pt x="0" y="466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061" r="0" b="-306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14438" y="4375547"/>
            <a:ext cx="485053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Especificación y Arquitectura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4438" y="4794647"/>
            <a:ext cx="4619549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Documento técnico formal con diseño estructural previo al código.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34111" y="3768328"/>
            <a:ext cx="1600200" cy="350044"/>
            <a:chOff x="0" y="0"/>
            <a:chExt cx="2133600" cy="466725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2133600" cy="466725"/>
            </a:xfrm>
            <a:custGeom>
              <a:avLst/>
              <a:gdLst/>
              <a:ahLst/>
              <a:cxnLst/>
              <a:rect r="r" b="b" t="t" l="l"/>
              <a:pathLst>
                <a:path h="466725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466725"/>
                  </a:lnTo>
                  <a:lnTo>
                    <a:pt x="0" y="466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590" r="0" b="-259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834111" y="4375547"/>
            <a:ext cx="485053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MVP &amp; Integración 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34111" y="4794647"/>
            <a:ext cx="4619549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Primer prototipo funcional con datos reales y motor de IA.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453785" y="3768328"/>
            <a:ext cx="1400175" cy="350044"/>
            <a:chOff x="0" y="0"/>
            <a:chExt cx="1866900" cy="466725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866900" cy="466725"/>
            </a:xfrm>
            <a:custGeom>
              <a:avLst/>
              <a:gdLst/>
              <a:ahLst/>
              <a:cxnLst/>
              <a:rect r="r" b="b" t="t" l="l"/>
              <a:pathLst>
                <a:path h="466725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466725"/>
                  </a:lnTo>
                  <a:lnTo>
                    <a:pt x="0" y="466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525" r="0" b="-252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53785" y="4375547"/>
            <a:ext cx="48507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Plataforma Completa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53785" y="4794647"/>
            <a:ext cx="4619777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integral en producción listo para usuarios finales.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4488" y="5513784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Historias de usuario documentadas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4488" y="6013847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Diagramas UML y Casos de Uso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14488" y="6513909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Modelo E-R y BD No Relacional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14488" y="7013972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Wireframes e interfaz en Figma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34161" y="5513784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Motor de scraping activo y operativo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34161" y="6013847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 de datos de perfumería poblada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34161" y="6513909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Chatbot conversacional inicial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34161" y="7013972"/>
            <a:ext cx="421949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Reporte de pruebas de integración 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53835" y="5513784"/>
            <a:ext cx="4219727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Plataforma desplegada en la Nube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53835" y="6013847"/>
            <a:ext cx="4219727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Informe completo de pruebas QA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3835" y="6513909"/>
            <a:ext cx="4219727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Manuales de usuario y de despliegue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53835" y="7013972"/>
            <a:ext cx="4219727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Código fuente en repositorio cerrado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14438" y="5597128"/>
            <a:ext cx="157162" cy="185738"/>
            <a:chOff x="0" y="0"/>
            <a:chExt cx="209550" cy="2476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9230" r="0" b="-1923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14438" y="6097191"/>
            <a:ext cx="157162" cy="185738"/>
            <a:chOff x="0" y="0"/>
            <a:chExt cx="209550" cy="2476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9230" r="0" b="-1923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14438" y="6597253"/>
            <a:ext cx="157162" cy="185738"/>
            <a:chOff x="0" y="0"/>
            <a:chExt cx="209550" cy="2476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9230" r="0" b="-1923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14438" y="7097316"/>
            <a:ext cx="157162" cy="185738"/>
            <a:chOff x="0" y="0"/>
            <a:chExt cx="209550" cy="24765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9230" r="0" b="-1923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834111" y="5597128"/>
            <a:ext cx="157162" cy="185738"/>
            <a:chOff x="0" y="0"/>
            <a:chExt cx="209550" cy="2476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230" r="0" b="-1923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834111" y="6097191"/>
            <a:ext cx="157162" cy="185738"/>
            <a:chOff x="0" y="0"/>
            <a:chExt cx="209550" cy="24765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230" r="0" b="-1923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834111" y="6597253"/>
            <a:ext cx="157162" cy="185738"/>
            <a:chOff x="0" y="0"/>
            <a:chExt cx="209550" cy="24765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230" r="0" b="-1923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834111" y="7097316"/>
            <a:ext cx="157162" cy="185738"/>
            <a:chOff x="0" y="0"/>
            <a:chExt cx="209550" cy="24765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230" r="0" b="-1923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453785" y="5597128"/>
            <a:ext cx="157162" cy="185738"/>
            <a:chOff x="0" y="0"/>
            <a:chExt cx="209550" cy="24765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9230" r="0" b="-1923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453785" y="6097191"/>
            <a:ext cx="157162" cy="185738"/>
            <a:chOff x="0" y="0"/>
            <a:chExt cx="209550" cy="24765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9230" r="0" b="-1923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453785" y="6597253"/>
            <a:ext cx="157162" cy="185738"/>
            <a:chOff x="0" y="0"/>
            <a:chExt cx="209550" cy="247650"/>
          </a:xfrm>
        </p:grpSpPr>
        <p:sp>
          <p:nvSpPr>
            <p:cNvPr name="Freeform 58" id="58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9230" r="0" b="-1923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453785" y="7097316"/>
            <a:ext cx="157162" cy="185738"/>
            <a:chOff x="0" y="0"/>
            <a:chExt cx="209550" cy="247650"/>
          </a:xfrm>
        </p:grpSpPr>
        <p:sp>
          <p:nvSpPr>
            <p:cNvPr name="Freeform 60" id="60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9230" r="0" b="-1923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36369" y="3250406"/>
            <a:ext cx="7815262" cy="1300162"/>
            <a:chOff x="0" y="0"/>
            <a:chExt cx="10420350" cy="17335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20350" cy="1733550"/>
            </a:xfrm>
            <a:custGeom>
              <a:avLst/>
              <a:gdLst/>
              <a:ahLst/>
              <a:cxnLst/>
              <a:rect r="r" b="b" t="t" l="l"/>
              <a:pathLst>
                <a:path h="173355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1733550"/>
                  </a:lnTo>
                  <a:lnTo>
                    <a:pt x="0" y="1733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57" r="0" b="-45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9796" y="5722144"/>
            <a:ext cx="3100388" cy="642938"/>
            <a:chOff x="0" y="0"/>
            <a:chExt cx="4133850" cy="8572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133850" cy="857250"/>
            </a:xfrm>
            <a:custGeom>
              <a:avLst/>
              <a:gdLst/>
              <a:ahLst/>
              <a:cxnLst/>
              <a:rect r="r" b="b" t="t" l="l"/>
              <a:pathLst>
                <a:path h="85725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34" r="0" b="-573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79606" y="5722144"/>
            <a:ext cx="2457450" cy="642938"/>
            <a:chOff x="0" y="0"/>
            <a:chExt cx="3276600" cy="8572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276600" cy="857250"/>
            </a:xfrm>
            <a:custGeom>
              <a:avLst/>
              <a:gdLst/>
              <a:ahLst/>
              <a:cxnLst/>
              <a:rect r="r" b="b" t="t" l="l"/>
              <a:pathLst>
                <a:path h="85725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084" r="0" b="-70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146631" y="5722144"/>
            <a:ext cx="2786062" cy="642938"/>
            <a:chOff x="0" y="0"/>
            <a:chExt cx="3714750" cy="8572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714750" cy="857250"/>
            </a:xfrm>
            <a:custGeom>
              <a:avLst/>
              <a:gdLst/>
              <a:ahLst/>
              <a:cxnLst/>
              <a:rect r="r" b="b" t="t" l="l"/>
              <a:pathLst>
                <a:path h="857250" w="3714750">
                  <a:moveTo>
                    <a:pt x="0" y="0"/>
                  </a:moveTo>
                  <a:lnTo>
                    <a:pt x="3714750" y="0"/>
                  </a:lnTo>
                  <a:lnTo>
                    <a:pt x="371475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308" r="0" b="-630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107781" y="4769644"/>
            <a:ext cx="807243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BeautyMatch — Espacio para preguntas y comentarios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69796" y="6793706"/>
            <a:ext cx="8748417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CAPSTONE · INGENIERÍA EN INFORMÁTICA · DUOC UC (SAN JOAQUÍN)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00638" y="5936456"/>
            <a:ext cx="271462" cy="214312"/>
            <a:chOff x="0" y="0"/>
            <a:chExt cx="361950" cy="2857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3" r="0" b="-333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486775" y="5936456"/>
            <a:ext cx="271462" cy="214312"/>
            <a:chOff x="0" y="0"/>
            <a:chExt cx="361950" cy="2857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3" r="0" b="-333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29975" y="5936456"/>
            <a:ext cx="271462" cy="214312"/>
            <a:chOff x="0" y="0"/>
            <a:chExt cx="361950" cy="2857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33" r="0" b="-333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992937" y="385831"/>
            <a:ext cx="6302125" cy="2983400"/>
            <a:chOff x="0" y="0"/>
            <a:chExt cx="20844926" cy="9867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844926" cy="9867900"/>
            </a:xfrm>
            <a:custGeom>
              <a:avLst/>
              <a:gdLst/>
              <a:ahLst/>
              <a:cxnLst/>
              <a:rect r="r" b="b" t="t" l="l"/>
              <a:pathLst>
                <a:path h="9867900" w="20844926">
                  <a:moveTo>
                    <a:pt x="0" y="0"/>
                  </a:moveTo>
                  <a:lnTo>
                    <a:pt x="20844926" y="0"/>
                  </a:lnTo>
                  <a:lnTo>
                    <a:pt x="20844926" y="9867900"/>
                  </a:lnTo>
                  <a:lnTo>
                    <a:pt x="0" y="986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9411" r="0" b="-941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DAHUMd2DRo0</dc:identifier>
  <dcterms:modified xsi:type="dcterms:W3CDTF">2011-08-01T06:04:30Z</dcterms:modified>
  <cp:revision>1</cp:revision>
  <dc:title>BeautyMatch Presentation.pptx</dc:title>
</cp:coreProperties>
</file>